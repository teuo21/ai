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582"/>
  </p:normalViewPr>
  <p:slideViewPr>
    <p:cSldViewPr snapToGrid="0">
      <p:cViewPr varScale="1">
        <p:scale>
          <a:sx n="120" d="100"/>
          <a:sy n="120" d="100"/>
        </p:scale>
        <p:origin x="2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149" y="389840"/>
            <a:ext cx="8281987" cy="2954655"/>
          </a:xfrm>
        </p:spPr>
        <p:txBody>
          <a:bodyPr anchor="t" anchorCtr="0">
            <a:normAutofit/>
          </a:bodyPr>
          <a:lstStyle>
            <a:lvl1pPr algn="l">
              <a:lnSpc>
                <a:spcPct val="100000"/>
              </a:lnSpc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149" y="3536951"/>
            <a:ext cx="8281989" cy="255587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A7947-E287-4738-8C82-07CE4F01EF03}" type="datetime2">
              <a:rPr lang="en-US" smtClean="0"/>
              <a:t>Thursday, December 12, 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2184FF4-7029-4ED7-813A-192E60608764}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9DE9FAB-6BBA-4CFE-B67D-77B47F01ECA4}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76917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113199"/>
            <a:ext cx="11090274" cy="3979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8C025-CD7A-4966-867E-81CF82B15267}" type="datetime2">
              <a:rPr lang="en-US" smtClean="0"/>
              <a:t>Thursday, December 12,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575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4644CBB8-40B8-42F8-9172-07A476341DDA}"/>
              </a:ext>
            </a:extLst>
          </p:cNvPr>
          <p:cNvGrpSpPr/>
          <p:nvPr/>
        </p:nvGrpSpPr>
        <p:grpSpPr>
          <a:xfrm>
            <a:off x="356481" y="879007"/>
            <a:ext cx="734257" cy="760506"/>
            <a:chOff x="5243759" y="1363788"/>
            <a:chExt cx="734257" cy="760506"/>
          </a:xfrm>
        </p:grpSpPr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35CE073E-302A-4AA7-98C7-8667DDDCFA18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6">
              <a:extLst>
                <a:ext uri="{FF2B5EF4-FFF2-40B4-BE49-F238E27FC236}">
                  <a16:creationId xmlns:a16="http://schemas.microsoft.com/office/drawing/2014/main" id="{4FD1AE2F-DD70-4E93-B905-E052A23F0B1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Freeform 8">
              <a:extLst>
                <a:ext uri="{FF2B5EF4-FFF2-40B4-BE49-F238E27FC236}">
                  <a16:creationId xmlns:a16="http://schemas.microsoft.com/office/drawing/2014/main" id="{E8D529E5-8838-47F0-98A4-2D46F11E499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5DA2564-D3DB-48AD-83F0-6CC6B5743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563" y="474345"/>
            <a:ext cx="11077574" cy="2954655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n-US" sz="64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03DDF-462A-45CE-931B-010AB4F7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9929-0719-4517-94D6-FDF7F99E70F6}" type="datetime2">
              <a:rPr lang="en-US" smtClean="0"/>
              <a:t>Thursday, December 12,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10702-2ACF-4768-9E91-8CB87B895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FA722-391E-4FCF-8E15-0D7E2EC0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EA752-36DA-440B-8747-0EB291408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271" y="3629772"/>
            <a:ext cx="11074866" cy="2678953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0BCC02B0-8581-4752-B7BC-3CE1EF17B9F7}"/>
              </a:ext>
            </a:extLst>
          </p:cNvPr>
          <p:cNvSpPr>
            <a:spLocks noChangeAspect="1"/>
          </p:cNvSpPr>
          <p:nvPr/>
        </p:nvSpPr>
        <p:spPr>
          <a:xfrm rot="18900000">
            <a:off x="11209132" y="4448189"/>
            <a:ext cx="999200" cy="1262947"/>
          </a:xfrm>
          <a:custGeom>
            <a:avLst/>
            <a:gdLst>
              <a:gd name="connsiteX0" fmla="*/ 540000 w 999200"/>
              <a:gd name="connsiteY0" fmla="*/ 0 h 1262947"/>
              <a:gd name="connsiteX1" fmla="*/ 999200 w 999200"/>
              <a:gd name="connsiteY1" fmla="*/ 815317 h 1262947"/>
              <a:gd name="connsiteX2" fmla="*/ 552185 w 999200"/>
              <a:gd name="connsiteY2" fmla="*/ 1262333 h 1262947"/>
              <a:gd name="connsiteX3" fmla="*/ 540000 w 999200"/>
              <a:gd name="connsiteY3" fmla="*/ 1262947 h 1262947"/>
              <a:gd name="connsiteX4" fmla="*/ 0 w 999200"/>
              <a:gd name="connsiteY4" fmla="*/ 992947 h 1262947"/>
              <a:gd name="connsiteX5" fmla="*/ 10971 w 999200"/>
              <a:gd name="connsiteY5" fmla="*/ 938533 h 1262947"/>
              <a:gd name="connsiteX6" fmla="*/ 15626 w 999200"/>
              <a:gd name="connsiteY6" fmla="*/ 931034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9200" h="1262947">
                <a:moveTo>
                  <a:pt x="540000" y="0"/>
                </a:moveTo>
                <a:lnTo>
                  <a:pt x="999200" y="815317"/>
                </a:lnTo>
                <a:lnTo>
                  <a:pt x="552185" y="1262333"/>
                </a:lnTo>
                <a:lnTo>
                  <a:pt x="540000" y="1262947"/>
                </a:ln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10200000" scaled="0"/>
          </a:gradFill>
          <a:ln>
            <a:noFill/>
          </a:ln>
          <a:effectLst>
            <a:innerShdw blurRad="254000" dist="101600" dir="42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EA0FF4DB-8180-4D26-AEAE-7ECDB670F71D}"/>
              </a:ext>
            </a:extLst>
          </p:cNvPr>
          <p:cNvSpPr/>
          <p:nvPr/>
        </p:nvSpPr>
        <p:spPr>
          <a:xfrm rot="2700000">
            <a:off x="11686937" y="4853516"/>
            <a:ext cx="540000" cy="978284"/>
          </a:xfrm>
          <a:custGeom>
            <a:avLst/>
            <a:gdLst>
              <a:gd name="connsiteX0" fmla="*/ 113288 w 540000"/>
              <a:gd name="connsiteY0" fmla="*/ 0 h 978284"/>
              <a:gd name="connsiteX1" fmla="*/ 539386 w 540000"/>
              <a:gd name="connsiteY1" fmla="*/ 426099 h 978284"/>
              <a:gd name="connsiteX2" fmla="*/ 540000 w 540000"/>
              <a:gd name="connsiteY2" fmla="*/ 438284 h 978284"/>
              <a:gd name="connsiteX3" fmla="*/ 270000 w 540000"/>
              <a:gd name="connsiteY3" fmla="*/ 978284 h 978284"/>
              <a:gd name="connsiteX4" fmla="*/ 0 w 540000"/>
              <a:gd name="connsiteY4" fmla="*/ 438284 h 978284"/>
              <a:gd name="connsiteX5" fmla="*/ 79081 w 540000"/>
              <a:gd name="connsiteY5" fmla="*/ 56446 h 978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000" h="978284">
                <a:moveTo>
                  <a:pt x="113288" y="0"/>
                </a:moveTo>
                <a:lnTo>
                  <a:pt x="539386" y="426099"/>
                </a:lnTo>
                <a:lnTo>
                  <a:pt x="540000" y="438284"/>
                </a:lnTo>
                <a:cubicBezTo>
                  <a:pt x="540000" y="736518"/>
                  <a:pt x="419117" y="978284"/>
                  <a:pt x="270000" y="978284"/>
                </a:cubicBezTo>
                <a:cubicBezTo>
                  <a:pt x="120883" y="978284"/>
                  <a:pt x="0" y="736518"/>
                  <a:pt x="0" y="438284"/>
                </a:cubicBezTo>
                <a:cubicBezTo>
                  <a:pt x="0" y="289167"/>
                  <a:pt x="30220" y="154167"/>
                  <a:pt x="79081" y="56446"/>
                </a:cubicBezTo>
                <a:close/>
              </a:path>
            </a:pathLst>
          </a:cu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917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8347B7-45FA-4A01-924D-DC385B720B3E}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4" cy="1332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62910-87AA-4E67-992D-8D4822FD8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5538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95673-5512-4AAA-9AEB-E00C61EC65D5}" type="datetime2">
              <a:rPr lang="en-US" smtClean="0"/>
              <a:t>Thursday, December 12, 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250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D65A50E-2F73-4426-8586-9731AFA2D2E0}"/>
              </a:ext>
            </a:extLst>
          </p:cNvPr>
          <p:cNvSpPr>
            <a:spLocks noChangeAspect="1"/>
          </p:cNvSpPr>
          <p:nvPr/>
        </p:nvSpPr>
        <p:spPr>
          <a:xfrm>
            <a:off x="11091612" y="58934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89C080-4102-49AE-BDA9-59A4A67E2486}"/>
              </a:ext>
            </a:extLst>
          </p:cNvPr>
          <p:cNvSpPr/>
          <p:nvPr/>
        </p:nvSpPr>
        <p:spPr>
          <a:xfrm>
            <a:off x="11451612" y="5827878"/>
            <a:ext cx="379049" cy="360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E62014-F04C-495A-964E-6B888D49C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DF027-E633-44EE-ACA0-C205930A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881275"/>
            <a:ext cx="5437186" cy="535354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A4F363-FEEF-4CD2-A18E-17AE8D485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577270"/>
            <a:ext cx="5429114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E50F8C-4D64-40FD-AE8C-6A1F3C2A8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2024" y="1881275"/>
            <a:ext cx="5436392" cy="535354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sz="1400" b="0" cap="all" spc="200" baseline="0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AC943E-DB2B-40E0-907F-8EA140479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2023" y="2577270"/>
            <a:ext cx="5436391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DCD5B-3F26-4AFA-8BD4-E5D8DD2AF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138FA-2E87-4873-8BBA-13E447C9A99A}" type="datetime2">
              <a:rPr lang="en-US" smtClean="0"/>
              <a:t>Thursday, December 12, 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10D1EE-83A0-4FB5-9B25-8A73DE89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031C35-2E5B-491D-85ED-DB42A4FE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156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149" y="550799"/>
            <a:ext cx="8283313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F51F65-E111-4656-83BE-CFCDE2DD6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BB40A-97BD-4BFB-B639-0BFF95FDE8B7}" type="datetime2">
              <a:rPr lang="en-US" smtClean="0"/>
              <a:t>Thursday, December 12, 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FF82CB-2D17-4918-821E-485475CF2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66589D-A056-4817-AE15-39D87FE13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E489F067-39E1-4757-BC11-6169A343F2E1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10727" y="3958416"/>
            <a:ext cx="3536330" cy="1853969"/>
          </a:xfrm>
          <a:custGeom>
            <a:avLst/>
            <a:gdLst>
              <a:gd name="connsiteX0" fmla="*/ 3536330 w 3536330"/>
              <a:gd name="connsiteY0" fmla="*/ 1853969 h 1853969"/>
              <a:gd name="connsiteX1" fmla="*/ 1682362 w 3536330"/>
              <a:gd name="connsiteY1" fmla="*/ 0 h 1853969"/>
              <a:gd name="connsiteX2" fmla="*/ 52157 w 3536330"/>
              <a:gd name="connsiteY2" fmla="*/ 970257 h 1853969"/>
              <a:gd name="connsiteX3" fmla="*/ 0 w 3536330"/>
              <a:gd name="connsiteY3" fmla="*/ 1078528 h 1853969"/>
              <a:gd name="connsiteX4" fmla="*/ 757215 w 3536330"/>
              <a:gd name="connsiteY4" fmla="*/ 1835743 h 1853969"/>
              <a:gd name="connsiteX5" fmla="*/ 774211 w 3536330"/>
              <a:gd name="connsiteY5" fmla="*/ 1667149 h 1853969"/>
              <a:gd name="connsiteX6" fmla="*/ 1682362 w 3536330"/>
              <a:gd name="connsiteY6" fmla="*/ 926985 h 1853969"/>
              <a:gd name="connsiteX7" fmla="*/ 2609345 w 3536330"/>
              <a:gd name="connsiteY7" fmla="*/ 1853969 h 1853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36330" h="1853969">
                <a:moveTo>
                  <a:pt x="3536330" y="1853969"/>
                </a:moveTo>
                <a:cubicBezTo>
                  <a:pt x="3536330" y="830051"/>
                  <a:pt x="2706280" y="0"/>
                  <a:pt x="1682362" y="0"/>
                </a:cubicBezTo>
                <a:cubicBezTo>
                  <a:pt x="978418" y="0"/>
                  <a:pt x="366107" y="392328"/>
                  <a:pt x="52157" y="970257"/>
                </a:cubicBezTo>
                <a:lnTo>
                  <a:pt x="0" y="1078528"/>
                </a:lnTo>
                <a:lnTo>
                  <a:pt x="757215" y="1835743"/>
                </a:lnTo>
                <a:lnTo>
                  <a:pt x="774211" y="1667149"/>
                </a:lnTo>
                <a:cubicBezTo>
                  <a:pt x="860649" y="1244739"/>
                  <a:pt x="1234397" y="926985"/>
                  <a:pt x="1682362" y="926985"/>
                </a:cubicBezTo>
                <a:cubicBezTo>
                  <a:pt x="2194320" y="926985"/>
                  <a:pt x="2609345" y="1342010"/>
                  <a:pt x="2609345" y="1853969"/>
                </a:cubicBezTo>
                <a:close/>
              </a:path>
            </a:pathLst>
          </a:custGeom>
          <a:gradFill flip="none" rotWithShape="1">
            <a:gsLst>
              <a:gs pos="97000">
                <a:schemeClr val="bg2"/>
              </a:gs>
              <a:gs pos="31000">
                <a:schemeClr val="bg2">
                  <a:lumMod val="90000"/>
                  <a:lumOff val="10000"/>
                </a:schemeClr>
              </a:gs>
            </a:gsLst>
            <a:lin ang="15000000" scaled="0"/>
            <a:tileRect/>
          </a:gradFill>
          <a:ln>
            <a:noFill/>
          </a:ln>
          <a:effectLst>
            <a:innerShdw blurRad="355600" dist="101600" dir="16200000">
              <a:schemeClr val="accent1">
                <a:lumMod val="60000"/>
                <a:lumOff val="40000"/>
                <a:alpha val="8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D231011-607F-42F1-B2D9-2BA8E91CC6AF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81151" y="3649708"/>
            <a:ext cx="3478701" cy="2164843"/>
          </a:xfrm>
          <a:custGeom>
            <a:avLst/>
            <a:gdLst>
              <a:gd name="connsiteX0" fmla="*/ 3478701 w 3478701"/>
              <a:gd name="connsiteY0" fmla="*/ 2164843 h 2164843"/>
              <a:gd name="connsiteX1" fmla="*/ 1624733 w 3478701"/>
              <a:gd name="connsiteY1" fmla="*/ 0 h 2164843"/>
              <a:gd name="connsiteX2" fmla="*/ 87393 w 3478701"/>
              <a:gd name="connsiteY2" fmla="*/ 954459 h 2164843"/>
              <a:gd name="connsiteX3" fmla="*/ 0 w 3478701"/>
              <a:gd name="connsiteY3" fmla="*/ 1122434 h 2164843"/>
              <a:gd name="connsiteX4" fmla="*/ 736015 w 3478701"/>
              <a:gd name="connsiteY4" fmla="*/ 1858449 h 2164843"/>
              <a:gd name="connsiteX5" fmla="*/ 739424 w 3478701"/>
              <a:gd name="connsiteY5" fmla="*/ 1842964 h 2164843"/>
              <a:gd name="connsiteX6" fmla="*/ 1624733 w 3478701"/>
              <a:gd name="connsiteY6" fmla="*/ 1082422 h 2164843"/>
              <a:gd name="connsiteX7" fmla="*/ 2551716 w 3478701"/>
              <a:gd name="connsiteY7" fmla="*/ 2164843 h 2164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78701" h="2164843">
                <a:moveTo>
                  <a:pt x="3478701" y="2164843"/>
                </a:moveTo>
                <a:cubicBezTo>
                  <a:pt x="3478701" y="969234"/>
                  <a:pt x="2648651" y="0"/>
                  <a:pt x="1624733" y="0"/>
                </a:cubicBezTo>
                <a:cubicBezTo>
                  <a:pt x="984784" y="0"/>
                  <a:pt x="420564" y="378607"/>
                  <a:pt x="87393" y="954459"/>
                </a:cubicBezTo>
                <a:lnTo>
                  <a:pt x="0" y="1122434"/>
                </a:lnTo>
                <a:lnTo>
                  <a:pt x="736015" y="1858449"/>
                </a:lnTo>
                <a:lnTo>
                  <a:pt x="739424" y="1842964"/>
                </a:lnTo>
                <a:cubicBezTo>
                  <a:pt x="856791" y="1402344"/>
                  <a:pt x="1208766" y="1082422"/>
                  <a:pt x="1624733" y="1082422"/>
                </a:cubicBezTo>
                <a:cubicBezTo>
                  <a:pt x="2136692" y="1082422"/>
                  <a:pt x="2551716" y="1567038"/>
                  <a:pt x="2551716" y="2164843"/>
                </a:cubicBezTo>
                <a:close/>
              </a:path>
            </a:pathLst>
          </a:custGeom>
          <a:solidFill>
            <a:schemeClr val="bg2">
              <a:lumMod val="50000"/>
              <a:lumOff val="50000"/>
              <a:alpha val="40000"/>
            </a:schemeClr>
          </a:solidFill>
          <a:ln>
            <a:noFill/>
          </a:ln>
          <a:effectLst>
            <a:softEdge rad="381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C472EFA-56B5-4A41-8D4B-E9F37727F34D}"/>
              </a:ext>
            </a:extLst>
          </p:cNvPr>
          <p:cNvSpPr/>
          <p:nvPr/>
        </p:nvSpPr>
        <p:spPr>
          <a:xfrm rot="13500000" flipV="1">
            <a:off x="1512277" y="2840042"/>
            <a:ext cx="214196" cy="933178"/>
          </a:xfrm>
          <a:prstGeom prst="ellipse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3781B6C-21AD-489D-A3CB-522BB2AC543F}"/>
              </a:ext>
            </a:extLst>
          </p:cNvPr>
          <p:cNvSpPr>
            <a:spLocks noChangeAspect="1"/>
          </p:cNvSpPr>
          <p:nvPr/>
        </p:nvSpPr>
        <p:spPr>
          <a:xfrm>
            <a:off x="1780661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1AD5B80-530E-44CD-8D4A-2796FB214CBF}"/>
              </a:ext>
            </a:extLst>
          </p:cNvPr>
          <p:cNvGrpSpPr/>
          <p:nvPr/>
        </p:nvGrpSpPr>
        <p:grpSpPr>
          <a:xfrm>
            <a:off x="623181" y="1514007"/>
            <a:ext cx="734257" cy="760506"/>
            <a:chOff x="5243759" y="1363788"/>
            <a:chExt cx="734257" cy="760506"/>
          </a:xfrm>
        </p:grpSpPr>
        <p:sp>
          <p:nvSpPr>
            <p:cNvPr id="52" name="Freeform 5">
              <a:extLst>
                <a:ext uri="{FF2B5EF4-FFF2-40B4-BE49-F238E27FC236}">
                  <a16:creationId xmlns:a16="http://schemas.microsoft.com/office/drawing/2014/main" id="{2F746AA8-9050-4515-9B17-BC850368529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6">
              <a:extLst>
                <a:ext uri="{FF2B5EF4-FFF2-40B4-BE49-F238E27FC236}">
                  <a16:creationId xmlns:a16="http://schemas.microsoft.com/office/drawing/2014/main" id="{23EC1AC3-1698-46D5-80B7-F22F15E1A5E4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Freeform 8">
              <a:extLst>
                <a:ext uri="{FF2B5EF4-FFF2-40B4-BE49-F238E27FC236}">
                  <a16:creationId xmlns:a16="http://schemas.microsoft.com/office/drawing/2014/main" id="{73766156-553C-46EB-93FA-4F37CC0FF5CF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55894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9E0E3-ECF6-4CFE-8698-AEFEBCECC3C0}" type="datetime2">
              <a:rPr lang="en-US" smtClean="0"/>
              <a:t>Thursday, December 12, 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260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78B0BE9-88B0-4883-9BA9-CD594C400EC1}"/>
              </a:ext>
            </a:extLst>
          </p:cNvPr>
          <p:cNvGrpSpPr/>
          <p:nvPr/>
        </p:nvGrpSpPr>
        <p:grpSpPr>
          <a:xfrm>
            <a:off x="4949631" y="5111861"/>
            <a:ext cx="1262947" cy="1335600"/>
            <a:chOff x="2678417" y="2427951"/>
            <a:chExt cx="1262947" cy="13356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59DCBF3-7AFA-4CD1-A918-BC6DDE674E6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6964A02-96E1-4654-9187-DDDE7409F75B}"/>
                </a:ext>
              </a:extLst>
            </p:cNvPr>
            <p:cNvSpPr/>
            <p:nvPr/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F3FF76C-A012-4CDA-8AE7-E94139557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5" cy="984885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A4C80-DC38-4641-924F-90D6078CF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5775" y="1750060"/>
            <a:ext cx="7345362" cy="434276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42771-D3A7-4072-85DC-B7C5E530E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50060"/>
            <a:ext cx="3565525" cy="434276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47AB1-6EB5-4E2C-B4A7-42DC643E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462FC-960E-4740-921F-B36862979F21}" type="datetime2">
              <a:rPr lang="en-US" smtClean="0"/>
              <a:t>Thursday, December 12, 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9D15F-B6ED-46E1-9840-0B62588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EB023-7A5E-4087-B75E-A38A80EE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283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F98F1FBA-F8BB-42CF-8B3E-D19AAFEE96C1}"/>
              </a:ext>
            </a:extLst>
          </p:cNvPr>
          <p:cNvGrpSpPr/>
          <p:nvPr/>
        </p:nvGrpSpPr>
        <p:grpSpPr>
          <a:xfrm>
            <a:off x="334964" y="5115518"/>
            <a:ext cx="734257" cy="760506"/>
            <a:chOff x="5243759" y="1363788"/>
            <a:chExt cx="734257" cy="760506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60EE09DD-C3DB-4266-BCC3-A765CFFBF37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5F301FE0-96DC-4EFB-BBEE-AED762C337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3BEAD276-8850-4C0C-9777-8537000D522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5EE0A0-B07E-479B-9684-4BD09FA43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75409"/>
            <a:ext cx="4500562" cy="984885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1893A9-3462-4F51-83AE-5D2F124B98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67324" y="575409"/>
            <a:ext cx="6373813" cy="573331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A9240C-79C0-4A88-A476-725DE1B9C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76195"/>
            <a:ext cx="4500562" cy="4532530"/>
          </a:xfrm>
        </p:spPr>
        <p:txBody>
          <a:bodyPr anchor="t" anchorCtr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D2D6F-49E8-4217-A908-2D9E4358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BC9E2-CB44-4C05-9BB5-496C18A241E0}" type="datetime2">
              <a:rPr lang="en-US" smtClean="0"/>
              <a:t>Thursday, December 12, 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C4440-6B8D-4A24-A807-8B1302A3D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CFE189-E20B-4108-B290-24442433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083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79361-B9A1-48F2-9473-23DE30E2D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03906"/>
            <a:ext cx="11090275" cy="133305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986779-C2F3-447D-85F7-F6B0E2C97D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61572-1A59-4E3B-BA65-3329E946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EBD84-71F4-4271-8C46-0D47C0A9B12E}" type="datetime2">
              <a:rPr lang="en-US" smtClean="0"/>
              <a:t>Thursday, December 12,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F84F1-99FE-4F0B-9E76-F581C2C1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2D769-16B1-43C4-BF14-31755335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598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56583A-514F-4632-820D-E7EE236A46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73CBBB-7DDC-4437-8C7D-22A1C3520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69EBF-DA20-4024-8006-B158D571E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E0CE1-F450-4107-B2CB-17B18F8A3F4A}" type="datetime2">
              <a:rPr lang="en-US" smtClean="0"/>
              <a:t>Thursday, December 12,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AC8B9-14B5-4DF1-994D-AB47DB3BA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76582-5F9B-4F5E-AAD5-D608CB68E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393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9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246CB39B-5F4C-4A7E-9BE3-AAFD45576D16}" type="datetime2">
              <a:rPr lang="en-US" smtClean="0"/>
              <a:t>Thursday, December 12, 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9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en-US"/>
              <a:t>Sample Footer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9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DBA1B0FB-D917-4C8C-928F-313BD683BF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2564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sz="20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21A1FA-F067-C35A-4A30-9C7D4A8A36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4" y="1051551"/>
            <a:ext cx="3565524" cy="2384898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RO" sz="4100"/>
              <a:t>Machine Learning Homework</a:t>
            </a:r>
            <a:br>
              <a:rPr lang="en-RO" sz="4100"/>
            </a:br>
            <a:r>
              <a:rPr lang="en-RO" sz="4100"/>
              <a:t>Loan Dataset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14975-658B-5574-C8DE-77667E665A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3" y="3569008"/>
            <a:ext cx="3565525" cy="1731656"/>
          </a:xfrm>
        </p:spPr>
        <p:txBody>
          <a:bodyPr>
            <a:normAutofit/>
          </a:bodyPr>
          <a:lstStyle/>
          <a:p>
            <a:r>
              <a:rPr lang="en-RO" sz="2000">
                <a:solidFill>
                  <a:schemeClr val="tx1">
                    <a:alpha val="60000"/>
                  </a:schemeClr>
                </a:solidFill>
              </a:rPr>
              <a:t>Macoveiciuc Teodor-Mihai</a:t>
            </a:r>
          </a:p>
          <a:p>
            <a:r>
              <a:rPr lang="en-RO" sz="2000">
                <a:solidFill>
                  <a:schemeClr val="tx1">
                    <a:alpha val="60000"/>
                  </a:schemeClr>
                </a:solidFill>
              </a:rPr>
              <a:t>1241B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592A8CB-0B0A-43A5-86F4-712B0C4696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41850" y="444676"/>
            <a:ext cx="667802" cy="631474"/>
            <a:chOff x="10478914" y="1506691"/>
            <a:chExt cx="667802" cy="63147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C63B2AC-3D19-416D-A37F-2DDA8A365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A474391-1271-45F9-A39C-8641371AB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424B4515-55F1-0FBF-F6EC-7805A9206F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2" b="7927"/>
          <a:stretch/>
        </p:blipFill>
        <p:spPr>
          <a:xfrm>
            <a:off x="4743450" y="10"/>
            <a:ext cx="7448551" cy="6857990"/>
          </a:xfrm>
          <a:custGeom>
            <a:avLst/>
            <a:gdLst/>
            <a:ahLst/>
            <a:cxnLst/>
            <a:rect l="l" t="t" r="r" b="b"/>
            <a:pathLst>
              <a:path w="7448551" h="6858000">
                <a:moveTo>
                  <a:pt x="0" y="0"/>
                </a:moveTo>
                <a:lnTo>
                  <a:pt x="7448551" y="0"/>
                </a:lnTo>
                <a:lnTo>
                  <a:pt x="7448551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1AC6C06-99FE-4BA1-BC82-8406A424CD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90000">
                <a:schemeClr val="bg2">
                  <a:alpha val="60000"/>
                </a:schemeClr>
              </a:gs>
              <a:gs pos="28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AEC842D-C905-4DEA-B1C3-CA51995C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21219" y="5433223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127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9DA91-B6A9-455C-7871-F92535062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O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77E7D-33CC-1ACA-2202-592B40F184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Problem Definition</a:t>
            </a:r>
            <a:r>
              <a:rPr lang="en-GB" dirty="0"/>
              <a:t>:</a:t>
            </a:r>
          </a:p>
          <a:p>
            <a:pPr marL="0" indent="0">
              <a:buNone/>
            </a:pPr>
            <a:r>
              <a:rPr lang="en-GB" dirty="0"/>
              <a:t>Classifying loan statuses (approved/rejected) using machine learning.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Objectives</a:t>
            </a:r>
            <a:r>
              <a:rPr lang="en-GB" dirty="0"/>
              <a:t>:</a:t>
            </a:r>
          </a:p>
          <a:p>
            <a:pPr marL="0" indent="0">
              <a:buNone/>
            </a:pPr>
            <a:r>
              <a:rPr lang="en-GB" dirty="0"/>
              <a:t>Explore data insights, pre-process effectively, handle class imbalance, and evaluate model performance.</a:t>
            </a:r>
          </a:p>
          <a:p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1746431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CD9DF-A65B-C526-93F4-034962C8F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O" dirty="0"/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CC3DE-3587-2259-EA24-39C76C048E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RO" dirty="0"/>
              <a:t>Number of columns and entries: 28 col, cca. 45k entries</a:t>
            </a:r>
          </a:p>
          <a:p>
            <a:r>
              <a:rPr lang="en-RO" dirty="0"/>
              <a:t>Col: age, loan, credit score etc</a:t>
            </a:r>
          </a:p>
          <a:p>
            <a:r>
              <a:rPr lang="en-RO" dirty="0"/>
              <a:t>Chall</a:t>
            </a:r>
            <a:r>
              <a:rPr lang="en-GB" dirty="0"/>
              <a:t>e</a:t>
            </a:r>
            <a:r>
              <a:rPr lang="en-RO" dirty="0"/>
              <a:t>nges: </a:t>
            </a:r>
          </a:p>
          <a:p>
            <a:pPr lvl="1"/>
            <a:r>
              <a:rPr lang="en-RO" dirty="0"/>
              <a:t>Missing (maybe not that important) information such as marital status</a:t>
            </a:r>
          </a:p>
          <a:p>
            <a:pPr lvl="1"/>
            <a:r>
              <a:rPr lang="en-GB" dirty="0"/>
              <a:t>S</a:t>
            </a:r>
            <a:r>
              <a:rPr lang="en-RO" dirty="0"/>
              <a:t>tandardization of the dataset for model’s stability</a:t>
            </a:r>
          </a:p>
          <a:p>
            <a:pPr lvl="1"/>
            <a:r>
              <a:rPr lang="en-RO" dirty="0"/>
              <a:t>Big dataset (taking some time to train certain models</a:t>
            </a:r>
          </a:p>
          <a:p>
            <a:pPr lvl="1"/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1860083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12445" y="481888"/>
            <a:ext cx="1080000" cy="1262947"/>
          </a:xfrm>
          <a:custGeom>
            <a:avLst/>
            <a:gdLst/>
            <a:ahLst/>
            <a:cxnLst/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8A00A08-E4E6-4184-B484-E0E034072A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171" y="13882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780E404-3121-4F33-AF2D-65F659A97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7675" y="288981"/>
            <a:ext cx="1262947" cy="1335600"/>
            <a:chOff x="2678417" y="2427951"/>
            <a:chExt cx="1262947" cy="1335600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339341D-8322-49F1-91DA-6D115CCAE7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7EB9DB0E-3B0E-411A-9274-448D565CA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BB4611A-A14B-1DE2-AB63-0057AD70D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549275"/>
            <a:ext cx="3565524" cy="3034657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en-US"/>
              <a:t>Exploratory data analys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B158E9A-DBF4-4AA7-B6B7-8C8EB2FBDD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125249" y="5435090"/>
            <a:ext cx="762805" cy="734873"/>
            <a:chOff x="7950336" y="1300590"/>
            <a:chExt cx="762805" cy="734873"/>
          </a:xfrm>
        </p:grpSpPr>
        <p:sp>
          <p:nvSpPr>
            <p:cNvPr id="31" name="Freeform 5">
              <a:extLst>
                <a:ext uri="{FF2B5EF4-FFF2-40B4-BE49-F238E27FC236}">
                  <a16:creationId xmlns:a16="http://schemas.microsoft.com/office/drawing/2014/main" id="{6150ACFD-AEC6-42A3-A5A7-E7AD6B13E0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3600000">
              <a:off x="8220298" y="1428832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60000"/>
                  </a:schemeClr>
                </a:gs>
                <a:gs pos="100000">
                  <a:schemeClr val="accent1">
                    <a:lumMod val="60000"/>
                    <a:lumOff val="40000"/>
                    <a:alpha val="6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DB4D1217-FEB1-4D2A-80F4-C227B66D72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3600000">
              <a:off x="8066503" y="1339815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6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8">
              <a:extLst>
                <a:ext uri="{FF2B5EF4-FFF2-40B4-BE49-F238E27FC236}">
                  <a16:creationId xmlns:a16="http://schemas.microsoft.com/office/drawing/2014/main" id="{0BCA7138-22BA-4785-8B3D-9D45213E8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3600000">
              <a:off x="8217173" y="1608753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60000"/>
                  </a:schemeClr>
                </a:gs>
                <a:gs pos="100000">
                  <a:schemeClr val="accent1">
                    <a:lumMod val="60000"/>
                    <a:lumOff val="40000"/>
                    <a:alpha val="6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508000">
                <a:schemeClr val="bg2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A7E84372-6D55-9E38-523B-E1E2AFD7B4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01251" y="549275"/>
            <a:ext cx="7134413" cy="5761037"/>
          </a:xfrm>
          <a:custGeom>
            <a:avLst/>
            <a:gdLst/>
            <a:ahLst/>
            <a:cxnLst/>
            <a:rect l="l" t="t" r="r" b="b"/>
            <a:pathLst>
              <a:path w="7345363" h="5761037">
                <a:moveTo>
                  <a:pt x="0" y="0"/>
                </a:moveTo>
                <a:lnTo>
                  <a:pt x="7345363" y="0"/>
                </a:lnTo>
                <a:lnTo>
                  <a:pt x="7345363" y="5761037"/>
                </a:lnTo>
                <a:lnTo>
                  <a:pt x="0" y="576103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094501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12445" y="481888"/>
            <a:ext cx="1080000" cy="1262947"/>
          </a:xfrm>
          <a:custGeom>
            <a:avLst/>
            <a:gdLst/>
            <a:ahLst/>
            <a:cxnLst/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8A00A08-E4E6-4184-B484-E0E034072A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171" y="13882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780E404-3121-4F33-AF2D-65F659A97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7675" y="288981"/>
            <a:ext cx="1262947" cy="1335600"/>
            <a:chOff x="2678417" y="2427951"/>
            <a:chExt cx="1262947" cy="1335600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339341D-8322-49F1-91DA-6D115CCAE7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7EB9DB0E-3B0E-411A-9274-448D565CA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B12E49C-8766-D03D-52C9-1D722F54A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549275"/>
            <a:ext cx="3565524" cy="3034657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en-US"/>
              <a:t>Distribution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B158E9A-DBF4-4AA7-B6B7-8C8EB2FBDD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125249" y="5435090"/>
            <a:ext cx="762805" cy="734873"/>
            <a:chOff x="7950336" y="1300590"/>
            <a:chExt cx="762805" cy="734873"/>
          </a:xfrm>
        </p:grpSpPr>
        <p:sp>
          <p:nvSpPr>
            <p:cNvPr id="31" name="Freeform 5">
              <a:extLst>
                <a:ext uri="{FF2B5EF4-FFF2-40B4-BE49-F238E27FC236}">
                  <a16:creationId xmlns:a16="http://schemas.microsoft.com/office/drawing/2014/main" id="{6150ACFD-AEC6-42A3-A5A7-E7AD6B13E0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3600000">
              <a:off x="8220298" y="1428832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60000"/>
                  </a:schemeClr>
                </a:gs>
                <a:gs pos="100000">
                  <a:schemeClr val="accent1">
                    <a:lumMod val="60000"/>
                    <a:lumOff val="40000"/>
                    <a:alpha val="6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DB4D1217-FEB1-4D2A-80F4-C227B66D72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3600000">
              <a:off x="8066503" y="1339815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6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8">
              <a:extLst>
                <a:ext uri="{FF2B5EF4-FFF2-40B4-BE49-F238E27FC236}">
                  <a16:creationId xmlns:a16="http://schemas.microsoft.com/office/drawing/2014/main" id="{0BCA7138-22BA-4785-8B3D-9D45213E8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3600000">
              <a:off x="8217173" y="1608753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60000"/>
                  </a:schemeClr>
                </a:gs>
                <a:gs pos="100000">
                  <a:schemeClr val="accent1">
                    <a:lumMod val="60000"/>
                    <a:lumOff val="40000"/>
                    <a:alpha val="6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508000">
                <a:schemeClr val="bg2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5" name="Content Placeholder 4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62FE128E-8E88-D128-AE94-3D52DD4EF8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95776" y="1529181"/>
            <a:ext cx="7345363" cy="3801225"/>
          </a:xfrm>
          <a:custGeom>
            <a:avLst/>
            <a:gdLst/>
            <a:ahLst/>
            <a:cxnLst/>
            <a:rect l="l" t="t" r="r" b="b"/>
            <a:pathLst>
              <a:path w="7345363" h="5761037">
                <a:moveTo>
                  <a:pt x="0" y="0"/>
                </a:moveTo>
                <a:lnTo>
                  <a:pt x="7345363" y="0"/>
                </a:lnTo>
                <a:lnTo>
                  <a:pt x="7345363" y="5761037"/>
                </a:lnTo>
                <a:lnTo>
                  <a:pt x="0" y="576103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153721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12445" y="481888"/>
            <a:ext cx="1080000" cy="1262947"/>
          </a:xfrm>
          <a:custGeom>
            <a:avLst/>
            <a:gdLst/>
            <a:ahLst/>
            <a:cxnLst/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8A00A08-E4E6-4184-B484-E0E034072A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171" y="13882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780E404-3121-4F33-AF2D-65F659A97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7675" y="288981"/>
            <a:ext cx="1262947" cy="1335600"/>
            <a:chOff x="2678417" y="2427951"/>
            <a:chExt cx="1262947" cy="1335600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339341D-8322-49F1-91DA-6D115CCAE7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7EB9DB0E-3B0E-411A-9274-448D565CA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5F51341-286A-14F5-B982-4DDD07173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549275"/>
            <a:ext cx="3565524" cy="3034657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en-US" dirty="0"/>
              <a:t>Low data graph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B158E9A-DBF4-4AA7-B6B7-8C8EB2FBDD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125249" y="5435090"/>
            <a:ext cx="762805" cy="734873"/>
            <a:chOff x="7950336" y="1300590"/>
            <a:chExt cx="762805" cy="734873"/>
          </a:xfrm>
        </p:grpSpPr>
        <p:sp>
          <p:nvSpPr>
            <p:cNvPr id="31" name="Freeform 5">
              <a:extLst>
                <a:ext uri="{FF2B5EF4-FFF2-40B4-BE49-F238E27FC236}">
                  <a16:creationId xmlns:a16="http://schemas.microsoft.com/office/drawing/2014/main" id="{6150ACFD-AEC6-42A3-A5A7-E7AD6B13E0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3600000">
              <a:off x="8220298" y="1428832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60000"/>
                  </a:schemeClr>
                </a:gs>
                <a:gs pos="100000">
                  <a:schemeClr val="accent1">
                    <a:lumMod val="60000"/>
                    <a:lumOff val="40000"/>
                    <a:alpha val="6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DB4D1217-FEB1-4D2A-80F4-C227B66D72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3600000">
              <a:off x="8066503" y="1339815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6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8">
              <a:extLst>
                <a:ext uri="{FF2B5EF4-FFF2-40B4-BE49-F238E27FC236}">
                  <a16:creationId xmlns:a16="http://schemas.microsoft.com/office/drawing/2014/main" id="{0BCA7138-22BA-4785-8B3D-9D45213E8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3600000">
              <a:off x="8217173" y="1608753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60000"/>
                  </a:schemeClr>
                </a:gs>
                <a:gs pos="100000">
                  <a:schemeClr val="accent1">
                    <a:lumMod val="60000"/>
                    <a:lumOff val="40000"/>
                    <a:alpha val="6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508000">
                <a:schemeClr val="bg2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5" name="Content Placeholder 4" descr="A graph with a line&#10;&#10;Description automatically generated">
            <a:extLst>
              <a:ext uri="{FF2B5EF4-FFF2-40B4-BE49-F238E27FC236}">
                <a16:creationId xmlns:a16="http://schemas.microsoft.com/office/drawing/2014/main" id="{997B4F86-97BE-AAEF-2F33-923C5B0E85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95776" y="1593453"/>
            <a:ext cx="7345363" cy="3672680"/>
          </a:xfrm>
          <a:custGeom>
            <a:avLst/>
            <a:gdLst/>
            <a:ahLst/>
            <a:cxnLst/>
            <a:rect l="l" t="t" r="r" b="b"/>
            <a:pathLst>
              <a:path w="7345363" h="5761037">
                <a:moveTo>
                  <a:pt x="0" y="0"/>
                </a:moveTo>
                <a:lnTo>
                  <a:pt x="7345363" y="0"/>
                </a:lnTo>
                <a:lnTo>
                  <a:pt x="7345363" y="5761037"/>
                </a:lnTo>
                <a:lnTo>
                  <a:pt x="0" y="576103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804651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7F432-FD0D-370C-4805-1C34BB9BE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O" dirty="0"/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85AF7-647B-7133-EBD3-88E77C1EB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GB" b="1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Steps Taken</a:t>
            </a:r>
            <a:r>
              <a:rPr lang="en-GB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Outliers: Detected and addressed using </a:t>
            </a:r>
            <a:r>
              <a:rPr lang="en-GB" b="0" i="0" u="none" strike="noStrik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winsorization</a:t>
            </a:r>
            <a:r>
              <a:rPr lang="en-GB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Values: Filled using mean and mode imputation.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Encoding: Applied one-hot encoding for categorical variables.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Scaling: Standardized numerical data with </a:t>
            </a:r>
            <a:r>
              <a:rPr lang="en-GB" b="0" i="0" u="none" strike="noStrik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StandardScaler</a:t>
            </a:r>
            <a:r>
              <a:rPr lang="en-GB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Dimensionality Reduction: Used PCA to reduce multicollinearity.</a:t>
            </a:r>
          </a:p>
        </p:txBody>
      </p:sp>
    </p:spTree>
    <p:extLst>
      <p:ext uri="{BB962C8B-B14F-4D97-AF65-F5344CB8AC3E}">
        <p14:creationId xmlns:p14="http://schemas.microsoft.com/office/powerpoint/2010/main" val="3840626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12445" y="481888"/>
            <a:ext cx="1080000" cy="1262947"/>
          </a:xfrm>
          <a:custGeom>
            <a:avLst/>
            <a:gdLst/>
            <a:ahLst/>
            <a:cxnLst/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8A00A08-E4E6-4184-B484-E0E034072A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171" y="13882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780E404-3121-4F33-AF2D-65F659A97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7675" y="288981"/>
            <a:ext cx="1262947" cy="1335600"/>
            <a:chOff x="2678417" y="2427951"/>
            <a:chExt cx="1262947" cy="1335600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339341D-8322-49F1-91DA-6D115CCAE7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7EB9DB0E-3B0E-411A-9274-448D565CA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141F080-0AEE-C324-AB9B-E27BDA8B2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549275"/>
            <a:ext cx="3565524" cy="3034657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en-US" sz="4100"/>
              <a:t>Standardization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B158E9A-DBF4-4AA7-B6B7-8C8EB2FBDD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125249" y="5435090"/>
            <a:ext cx="762805" cy="734873"/>
            <a:chOff x="7950336" y="1300590"/>
            <a:chExt cx="762805" cy="734873"/>
          </a:xfrm>
        </p:grpSpPr>
        <p:sp>
          <p:nvSpPr>
            <p:cNvPr id="31" name="Freeform 5">
              <a:extLst>
                <a:ext uri="{FF2B5EF4-FFF2-40B4-BE49-F238E27FC236}">
                  <a16:creationId xmlns:a16="http://schemas.microsoft.com/office/drawing/2014/main" id="{6150ACFD-AEC6-42A3-A5A7-E7AD6B13E0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3600000">
              <a:off x="8220298" y="1428832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60000"/>
                  </a:schemeClr>
                </a:gs>
                <a:gs pos="100000">
                  <a:schemeClr val="accent1">
                    <a:lumMod val="60000"/>
                    <a:lumOff val="40000"/>
                    <a:alpha val="6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DB4D1217-FEB1-4D2A-80F4-C227B66D72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3600000">
              <a:off x="8066503" y="1339815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6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8">
              <a:extLst>
                <a:ext uri="{FF2B5EF4-FFF2-40B4-BE49-F238E27FC236}">
                  <a16:creationId xmlns:a16="http://schemas.microsoft.com/office/drawing/2014/main" id="{0BCA7138-22BA-4785-8B3D-9D45213E8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3600000">
              <a:off x="8217173" y="1608753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60000"/>
                  </a:schemeClr>
                </a:gs>
                <a:gs pos="100000">
                  <a:schemeClr val="accent1">
                    <a:lumMod val="60000"/>
                    <a:lumOff val="40000"/>
                    <a:alpha val="6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508000">
                <a:schemeClr val="bg2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5" name="Content Placeholder 4" descr="A screen shot of a graph&#10;&#10;Description automatically generated">
            <a:extLst>
              <a:ext uri="{FF2B5EF4-FFF2-40B4-BE49-F238E27FC236}">
                <a16:creationId xmlns:a16="http://schemas.microsoft.com/office/drawing/2014/main" id="{C338CCF7-109B-46CF-7308-AE115FC1D0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95776" y="647738"/>
            <a:ext cx="7345363" cy="5564111"/>
          </a:xfrm>
          <a:custGeom>
            <a:avLst/>
            <a:gdLst/>
            <a:ahLst/>
            <a:cxnLst/>
            <a:rect l="l" t="t" r="r" b="b"/>
            <a:pathLst>
              <a:path w="7345363" h="5761037">
                <a:moveTo>
                  <a:pt x="0" y="0"/>
                </a:moveTo>
                <a:lnTo>
                  <a:pt x="7345363" y="0"/>
                </a:lnTo>
                <a:lnTo>
                  <a:pt x="7345363" y="5761037"/>
                </a:lnTo>
                <a:lnTo>
                  <a:pt x="0" y="576103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152488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12445" y="481888"/>
            <a:ext cx="1080000" cy="1262947"/>
          </a:xfrm>
          <a:custGeom>
            <a:avLst/>
            <a:gdLst/>
            <a:ahLst/>
            <a:cxnLst/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8A00A08-E4E6-4184-B484-E0E034072A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171" y="13882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780E404-3121-4F33-AF2D-65F659A97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7675" y="288981"/>
            <a:ext cx="1262947" cy="1335600"/>
            <a:chOff x="2678417" y="2427951"/>
            <a:chExt cx="1262947" cy="1335600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339341D-8322-49F1-91DA-6D115CCAE7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7EB9DB0E-3B0E-411A-9274-448D565CA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E17062F-2A1F-0AFF-5F76-05FD18763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549275"/>
            <a:ext cx="3565524" cy="3034657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en-US"/>
              <a:t>Class distribution after applying SMOTE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B158E9A-DBF4-4AA7-B6B7-8C8EB2FBDD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125249" y="5435090"/>
            <a:ext cx="762805" cy="734873"/>
            <a:chOff x="7950336" y="1300590"/>
            <a:chExt cx="762805" cy="734873"/>
          </a:xfrm>
        </p:grpSpPr>
        <p:sp>
          <p:nvSpPr>
            <p:cNvPr id="31" name="Freeform 5">
              <a:extLst>
                <a:ext uri="{FF2B5EF4-FFF2-40B4-BE49-F238E27FC236}">
                  <a16:creationId xmlns:a16="http://schemas.microsoft.com/office/drawing/2014/main" id="{6150ACFD-AEC6-42A3-A5A7-E7AD6B13E0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3600000">
              <a:off x="8220298" y="1428832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60000"/>
                  </a:schemeClr>
                </a:gs>
                <a:gs pos="100000">
                  <a:schemeClr val="accent1">
                    <a:lumMod val="60000"/>
                    <a:lumOff val="40000"/>
                    <a:alpha val="6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DB4D1217-FEB1-4D2A-80F4-C227B66D72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3600000">
              <a:off x="8066503" y="1339815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6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8">
              <a:extLst>
                <a:ext uri="{FF2B5EF4-FFF2-40B4-BE49-F238E27FC236}">
                  <a16:creationId xmlns:a16="http://schemas.microsoft.com/office/drawing/2014/main" id="{0BCA7138-22BA-4785-8B3D-9D45213E8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3600000">
              <a:off x="8217173" y="1608753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60000"/>
                  </a:schemeClr>
                </a:gs>
                <a:gs pos="100000">
                  <a:schemeClr val="accent1">
                    <a:lumMod val="60000"/>
                    <a:lumOff val="40000"/>
                    <a:alpha val="6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508000">
                <a:schemeClr val="bg2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DA6E91E0-F3AA-780B-6017-58C0436DF4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95776" y="923189"/>
            <a:ext cx="7345363" cy="5013209"/>
          </a:xfrm>
          <a:custGeom>
            <a:avLst/>
            <a:gdLst/>
            <a:ahLst/>
            <a:cxnLst/>
            <a:rect l="l" t="t" r="r" b="b"/>
            <a:pathLst>
              <a:path w="7345363" h="5761037">
                <a:moveTo>
                  <a:pt x="0" y="0"/>
                </a:moveTo>
                <a:lnTo>
                  <a:pt x="7345363" y="0"/>
                </a:lnTo>
                <a:lnTo>
                  <a:pt x="7345363" y="5761037"/>
                </a:lnTo>
                <a:lnTo>
                  <a:pt x="0" y="576103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2096647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D11C8-6713-F1FA-3E8F-249817B76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O" dirty="0"/>
              <a:t>Machine learning Models</a:t>
            </a:r>
          </a:p>
        </p:txBody>
      </p:sp>
      <p:pic>
        <p:nvPicPr>
          <p:cNvPr id="5" name="Content Placeholder 4" descr="A table with numbers and text&#10;&#10;Description automatically generated with medium confidence">
            <a:extLst>
              <a:ext uri="{FF2B5EF4-FFF2-40B4-BE49-F238E27FC236}">
                <a16:creationId xmlns:a16="http://schemas.microsoft.com/office/drawing/2014/main" id="{63103A2B-EFE6-6FD1-2FF0-3E76E7F2C7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81300" y="3029744"/>
            <a:ext cx="6629400" cy="2146300"/>
          </a:xfrm>
        </p:spPr>
      </p:pic>
    </p:spTree>
    <p:extLst>
      <p:ext uri="{BB962C8B-B14F-4D97-AF65-F5344CB8AC3E}">
        <p14:creationId xmlns:p14="http://schemas.microsoft.com/office/powerpoint/2010/main" val="12488001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5A257-DE77-361D-55FD-DEE0F98CF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O" dirty="0"/>
              <a:t>Model Comparision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E73481-4982-4B2D-8128-7401844DA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RO" dirty="0"/>
              <a:t>Logistic regression: </a:t>
            </a:r>
          </a:p>
          <a:p>
            <a:pPr marL="0" indent="0">
              <a:buNone/>
            </a:pPr>
            <a:r>
              <a:rPr lang="en-RO" dirty="0"/>
              <a:t>	S</a:t>
            </a:r>
            <a:r>
              <a:rPr lang="en-GB" b="1" dirty="0" err="1"/>
              <a:t>trength</a:t>
            </a:r>
            <a:r>
              <a:rPr lang="en-GB" dirty="0"/>
              <a:t>: Balanced performance across all metrics, efficient and interpretable.</a:t>
            </a:r>
          </a:p>
          <a:p>
            <a:pPr marL="0" indent="0">
              <a:buNone/>
            </a:pPr>
            <a:r>
              <a:rPr lang="en-GB" b="1" dirty="0"/>
              <a:t>	Weakness</a:t>
            </a:r>
            <a:r>
              <a:rPr lang="en-GB" dirty="0"/>
              <a:t>: Slightly lower accuracy than Random Forest.</a:t>
            </a:r>
          </a:p>
          <a:p>
            <a:pPr marL="0" indent="0">
              <a:buNone/>
            </a:pPr>
            <a:r>
              <a:rPr lang="en-GB" dirty="0"/>
              <a:t>Random forest:</a:t>
            </a:r>
          </a:p>
          <a:p>
            <a:pPr marL="0" indent="0">
              <a:buNone/>
            </a:pPr>
            <a:r>
              <a:rPr lang="en-GB" b="1" dirty="0"/>
              <a:t>	Strength</a:t>
            </a:r>
            <a:r>
              <a:rPr lang="en-GB" dirty="0"/>
              <a:t>: Best overall performance due to its ensemble nature.</a:t>
            </a:r>
          </a:p>
          <a:p>
            <a:pPr marL="0" indent="0">
              <a:buNone/>
            </a:pPr>
            <a:r>
              <a:rPr lang="en-GB" b="1" dirty="0"/>
              <a:t>	Weakness</a:t>
            </a:r>
            <a:r>
              <a:rPr lang="en-GB" dirty="0"/>
              <a:t>: Computationally more expensive compared to Logistic Regression.</a:t>
            </a:r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3811865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AFE0A-CD62-54AF-1062-89AD668F2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O" dirty="0"/>
              <a:t>Model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BA01A-428F-5938-51D2-481B072854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RO" dirty="0"/>
              <a:t>Na</a:t>
            </a:r>
            <a:r>
              <a:rPr lang="en-GB" dirty="0" err="1"/>
              <a:t>ive</a:t>
            </a:r>
            <a:r>
              <a:rPr lang="en-GB" dirty="0"/>
              <a:t> Bayes:</a:t>
            </a:r>
          </a:p>
          <a:p>
            <a:pPr marL="0" indent="0">
              <a:buNone/>
            </a:pPr>
            <a:r>
              <a:rPr lang="en-GB" b="1" dirty="0"/>
              <a:t>Strength</a:t>
            </a:r>
            <a:r>
              <a:rPr lang="en-GB" dirty="0"/>
              <a:t>: High precision.</a:t>
            </a:r>
          </a:p>
          <a:p>
            <a:pPr marL="0" indent="0">
              <a:buNone/>
            </a:pPr>
            <a:r>
              <a:rPr lang="en-GB" b="1" dirty="0"/>
              <a:t>Weakness</a:t>
            </a:r>
            <a:r>
              <a:rPr lang="en-GB" dirty="0"/>
              <a:t>: Struggles with recall, leading to a low F1 score. Poor performance in terms of overall accuracy</a:t>
            </a:r>
          </a:p>
          <a:p>
            <a:pPr marL="0" indent="0">
              <a:buNone/>
            </a:pPr>
            <a:r>
              <a:rPr lang="en-RO" dirty="0"/>
              <a:t>Voting classifier:</a:t>
            </a:r>
          </a:p>
          <a:p>
            <a:pPr marL="0" indent="0">
              <a:buNone/>
            </a:pPr>
            <a:r>
              <a:rPr lang="en-GB" b="1" dirty="0"/>
              <a:t>Strength</a:t>
            </a:r>
            <a:r>
              <a:rPr lang="en-GB" dirty="0"/>
              <a:t>: Combines strengths of multiple models, improving precision.</a:t>
            </a:r>
          </a:p>
          <a:p>
            <a:pPr marL="0" indent="0">
              <a:buNone/>
            </a:pPr>
            <a:r>
              <a:rPr lang="en-GB" b="1" dirty="0"/>
              <a:t>Weakness</a:t>
            </a:r>
            <a:r>
              <a:rPr lang="en-GB" dirty="0"/>
              <a:t>: Accuracy slightly lower than Logistic Regression and Random Forest.</a:t>
            </a:r>
          </a:p>
          <a:p>
            <a:pPr marL="0" indent="0">
              <a:buNone/>
            </a:pPr>
            <a:r>
              <a:rPr lang="en-GB" dirty="0"/>
              <a:t>K-fold:</a:t>
            </a:r>
          </a:p>
          <a:p>
            <a:pPr marL="0" indent="0">
              <a:buNone/>
            </a:pPr>
            <a:r>
              <a:rPr lang="en-GB" b="0" i="0" u="none" strike="noStrike" dirty="0">
                <a:solidFill>
                  <a:schemeClr val="tx2"/>
                </a:solidFill>
                <a:effectLst/>
                <a:latin typeface="-webkit-standard"/>
              </a:rPr>
              <a:t>Provides a robust measure of model performance across splits.</a:t>
            </a:r>
            <a:endParaRPr lang="en-RO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32855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BC50C-9439-1330-921A-A901DB066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O" dirty="0"/>
              <a:t>Conclusion of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46ECE-4705-DC6B-7AD0-909C984ED3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Best Model</a:t>
            </a:r>
            <a:r>
              <a:rPr lang="en-GB" dirty="0"/>
              <a:t>: Random Forest due to its highest accuracy and F1 score.</a:t>
            </a:r>
          </a:p>
          <a:p>
            <a:r>
              <a:rPr lang="en-GB" b="1" dirty="0"/>
              <a:t>Naive Bayes</a:t>
            </a:r>
            <a:r>
              <a:rPr lang="en-GB" dirty="0"/>
              <a:t> should be avoided as its accuracy is significantly lower.</a:t>
            </a:r>
          </a:p>
          <a:p>
            <a:r>
              <a:rPr lang="en-GB" b="1" dirty="0"/>
              <a:t>Voting Classifier</a:t>
            </a:r>
            <a:r>
              <a:rPr lang="en-GB" dirty="0"/>
              <a:t> can be used for enhanced precision in certain applications.</a:t>
            </a:r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32236030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6A373-34E2-2126-4D9B-A9A723D13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O" dirty="0"/>
              <a:t>Conclusionm, chall</a:t>
            </a:r>
            <a:r>
              <a:rPr lang="en-GB" dirty="0"/>
              <a:t>e</a:t>
            </a:r>
            <a:r>
              <a:rPr lang="en-RO" dirty="0"/>
              <a:t>nges and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73613-C7C0-5AF8-0D26-8438E3C367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RO" dirty="0"/>
              <a:t>Chall</a:t>
            </a:r>
            <a:r>
              <a:rPr lang="en-GB" dirty="0"/>
              <a:t>e</a:t>
            </a:r>
            <a:r>
              <a:rPr lang="en-RO" dirty="0"/>
              <a:t>nges: Imbalance in classes (solution with SMOTE)</a:t>
            </a:r>
          </a:p>
          <a:p>
            <a:r>
              <a:rPr lang="en-RO" dirty="0"/>
              <a:t>Computational ineffiency with SVM (replaced with another model)</a:t>
            </a:r>
          </a:p>
          <a:p>
            <a:r>
              <a:rPr lang="en-RO" dirty="0"/>
              <a:t>In conclusion:</a:t>
            </a:r>
          </a:p>
          <a:p>
            <a:pPr marL="0" indent="0">
              <a:buNone/>
            </a:pPr>
            <a:r>
              <a:rPr lang="en-GB" dirty="0"/>
              <a:t>Voting Classifier is the best-performing model.</a:t>
            </a:r>
          </a:p>
          <a:p>
            <a:pPr marL="0" indent="0">
              <a:buNone/>
            </a:pPr>
            <a:r>
              <a:rPr lang="en-GB" dirty="0"/>
              <a:t>Random Forest was the top individual model.</a:t>
            </a:r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2490815325"/>
      </p:ext>
    </p:extLst>
  </p:cSld>
  <p:clrMapOvr>
    <a:masterClrMapping/>
  </p:clrMapOvr>
</p:sld>
</file>

<file path=ppt/theme/theme1.xml><?xml version="1.0" encoding="utf-8"?>
<a:theme xmlns:a="http://schemas.openxmlformats.org/drawingml/2006/main" name="3DFloatVTI">
  <a:themeElements>
    <a:clrScheme name="AnalogousFromDarkSeedLeftStep">
      <a:dk1>
        <a:srgbClr val="000000"/>
      </a:dk1>
      <a:lt1>
        <a:srgbClr val="FFFFFF"/>
      </a:lt1>
      <a:dk2>
        <a:srgbClr val="251D38"/>
      </a:dk2>
      <a:lt2>
        <a:srgbClr val="E2E8E2"/>
      </a:lt2>
      <a:accent1>
        <a:srgbClr val="DE31D1"/>
      </a:accent1>
      <a:accent2>
        <a:srgbClr val="9120CD"/>
      </a:accent2>
      <a:accent3>
        <a:srgbClr val="5B31DE"/>
      </a:accent3>
      <a:accent4>
        <a:srgbClr val="203ECD"/>
      </a:accent4>
      <a:accent5>
        <a:srgbClr val="3198DE"/>
      </a:accent5>
      <a:accent6>
        <a:srgbClr val="1CB4B3"/>
      </a:accent6>
      <a:hlink>
        <a:srgbClr val="3F75BF"/>
      </a:hlink>
      <a:folHlink>
        <a:srgbClr val="7F7F7F"/>
      </a:folHlink>
    </a:clrScheme>
    <a:fontScheme name="Float">
      <a:majorFont>
        <a:latin typeface="Sitka Heading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3DFloatVTI" id="{F59BA300-ED19-4B39-9AE3-7882B1DE8B78}" vid="{0FEC63E3-719F-4F50-9F1E-5B8BAF39109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378</Words>
  <Application>Microsoft Macintosh PowerPoint</Application>
  <PresentationFormat>Widescreen</PresentationFormat>
  <Paragraphs>54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-webkit-standard</vt:lpstr>
      <vt:lpstr>Arial</vt:lpstr>
      <vt:lpstr>Sitka Heading</vt:lpstr>
      <vt:lpstr>Source Sans Pro</vt:lpstr>
      <vt:lpstr>Times New Roman</vt:lpstr>
      <vt:lpstr>3DFloatVTI</vt:lpstr>
      <vt:lpstr>Machine Learning Homework Loan Dataset</vt:lpstr>
      <vt:lpstr>Introduction</vt:lpstr>
      <vt:lpstr>Dataset description</vt:lpstr>
      <vt:lpstr>Exploratory data analys</vt:lpstr>
      <vt:lpstr>Distribution</vt:lpstr>
      <vt:lpstr>Low data graph</vt:lpstr>
      <vt:lpstr>Data preprocessing</vt:lpstr>
      <vt:lpstr>Standardization</vt:lpstr>
      <vt:lpstr>Class distribution after applying SMOTE</vt:lpstr>
      <vt:lpstr>Machine learning Models</vt:lpstr>
      <vt:lpstr>Model Comparision</vt:lpstr>
      <vt:lpstr>Model comparison</vt:lpstr>
      <vt:lpstr>Conclusion of models</vt:lpstr>
      <vt:lpstr>Conclusionm, challenges and solutions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Homework Loan Dataset</dc:title>
  <dc:creator>Teodor-Mihai MACOVEICIUC (126671)</dc:creator>
  <cp:lastModifiedBy>Teodor-Mihai MACOVEICIUC (126671)</cp:lastModifiedBy>
  <cp:revision>2</cp:revision>
  <dcterms:created xsi:type="dcterms:W3CDTF">2024-12-12T08:19:42Z</dcterms:created>
  <dcterms:modified xsi:type="dcterms:W3CDTF">2024-12-12T09:26:29Z</dcterms:modified>
</cp:coreProperties>
</file>